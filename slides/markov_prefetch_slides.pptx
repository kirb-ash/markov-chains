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when does Markov prefetching actually help, and how do we stop it hurting when it does not? The figure on the right is the punchline.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fault costs orders of magnitude more than a memory access. Prefetching tries to load the page before the fault. A wrong prefetch costs I/O and evicts a page you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Markov prefetching is not new (Joseph and Grunwald, ISCA 1997). The contribution is an empirical study of when it helps, plus a throttle.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Trace-driven: we replay a list of page numbers. Prefetched pages are tagged; useful if used before eviction, useless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is the last k symbols. A symbol is either the page number or the delta from the previous page. The table maps state to four successor counters.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2,048 references we look at what fraction of resident prefetched pages were actually used and move the confidence threshold. Levels and cut-offs are hand-chosen, not 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synthetic workloads that I designed to span predictable to unpredictable, plus two real traces from valgrind. zipf and noisy have five more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Markov fixes the scans and matmul. Page Markov fixes loop, ptrchase, noisy. Nothing fixes zipf; next-page makes zipf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order 1 fails on matmul because the same page is followed by different pages. Order 2 resolves it. On noisy streams higher order hurts.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page-state predictor needs about one entry per page; collisions evict learned successors (not isolated with an associative table). Delta state is insensitive.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fault rate, far fewer wasted prefetches. Page state k=1, degree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Prequential conditional entropy: online, includes learning cost. Correlation is partly built in since both come from the same counts; effective sample is ten workloads. Vitter and Krishnan make the connection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real_matmul the simplest heuristic, next-page, beat the Markov predictor. On real_bfs nothing helped. The case for the added complexity is not established on this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these in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two real traces, next-page was as good as or better than Markov wherever any prefetching helped, so the practical case for the complexity is not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760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5760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When Does Markov Prefetching Pay Off?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An entropy-based study with an adaptive throttle</a:t>
            </a:r>
            <a:endParaRPr lang="en-US" sz="18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Pala Gaurav Reddy  ·  PES1UG25AM254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UE25CS242A Operating Systems  ·  Mini project P11  ·  PES University</a:t>
            </a:r>
            <a:endParaRPr lang="en-US" sz="1800" dirty="0"/>
          </a:p>
        </p:txBody>
      </p:sp>
      <p:sp>
        <p:nvSpPr>
          <p:cNvPr id="4" name="Figure panel"/>
          <p:cNvSpPr/>
          <p:nvPr/>
        </p:nvSpPr>
        <p:spPr>
          <a:xfrm>
            <a:off x="6675120" y="1325880"/>
            <a:ext cx="5120640" cy="4069080"/>
          </a:xfrm>
          <a:prstGeom prst="roundRect">
            <a:avLst>
              <a:gd name="adj" fmla="val 2697"/>
            </a:avLst>
          </a:prstGeom>
          <a:solidFill>
            <a:schemeClr val="bg1"/>
          </a:solidFill>
          <a:ln/>
        </p:spPr>
      </p:sp>
      <p:pic>
        <p:nvPicPr>
          <p:cNvPr id="5" name="Image 0" descr="Entropy versus prefetch bene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63040"/>
            <a:ext cx="4846320" cy="35240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prefetch pages?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fault is expensive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fault stalls the process while the page is fetched from disk. Faults, not instructions, often set the running time.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Prefetching can hide it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we guess the next page, it is already resident when the process asks for it, so the fault never happens.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2104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wrong guess hurts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useless prefetch wastes I/O and pushes out a page that was useful. On random access this can make things worse.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question</a:t>
            </a:r>
            <a:endParaRPr lang="en-US" sz="3400" dirty="0"/>
          </a:p>
        </p:txBody>
      </p:sp>
      <p:sp>
        <p:nvSpPr>
          <p:cNvPr id="4" name="Question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“does Markov prefetching work?” but when, and how do we stop it from hurting when it doesn’t?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004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A reproducible C simulator and workload suite for comparing prefetchers under LRU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An empirical link between a trace’s conditional entropy and the benefit of a Markov predictor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A small accuracy-driven throttle, with what it saves and what it costs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We do not claim Markov prefetching itself is new.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simulator works</a:t>
            </a:r>
            <a:endParaRPr lang="en-US" sz="3400" dirty="0"/>
          </a:p>
        </p:txBody>
      </p:sp>
      <p:sp>
        <p:nvSpPr>
          <p:cNvPr id="4" name="Trace"/>
          <p:cNvSpPr/>
          <p:nvPr/>
        </p:nvSpPr>
        <p:spPr>
          <a:xfrm>
            <a:off x="54864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Trace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page number per reference. Synthetic and real (valgrind) traces.</a:t>
            </a:r>
            <a:endParaRPr lang="en-US" sz="1400" dirty="0"/>
          </a:p>
        </p:txBody>
      </p:sp>
      <p:sp>
        <p:nvSpPr>
          <p:cNvPr id="7" name="Frames + LRU"/>
          <p:cNvSpPr/>
          <p:nvPr/>
        </p:nvSpPr>
        <p:spPr>
          <a:xfrm>
            <a:off x="4754880" y="1463040"/>
            <a:ext cx="29260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Frames + LRU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256 frames. A prefetched page is tagged until it is used.</a:t>
            </a:r>
            <a:endParaRPr lang="en-US" sz="1400" dirty="0"/>
          </a:p>
        </p:txBody>
      </p:sp>
      <p:sp>
        <p:nvSpPr>
          <p:cNvPr id="10" name="Predictor"/>
          <p:cNvSpPr/>
          <p:nvPr/>
        </p:nvSpPr>
        <p:spPr>
          <a:xfrm>
            <a:off x="4754880" y="3657600"/>
            <a:ext cx="292608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3776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Predictor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4389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none, next-page, stride, or Markov (page or delta state, order 1 to 3).</a:t>
            </a:r>
            <a:endParaRPr lang="en-US" sz="1400" dirty="0"/>
          </a:p>
        </p:txBody>
      </p:sp>
      <p:sp>
        <p:nvSpPr>
          <p:cNvPr id="13" name="Metrics"/>
          <p:cNvSpPr/>
          <p:nvPr/>
        </p:nvSpPr>
        <p:spPr>
          <a:xfrm>
            <a:off x="9144000" y="2011680"/>
            <a:ext cx="2468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2688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Metrics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Fault rate, accuracy, wasted prefetches, table size.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46120" y="3108960"/>
            <a:ext cx="1463040" cy="-914400"/>
          </a:xfrm>
          <a:prstGeom prst="line">
            <a:avLst/>
          </a:prstGeom>
          <a:noFill/>
          <a:ln w="31750">
            <a:solidFill>
              <a:srgbClr val="5C6B6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46120" y="3108960"/>
            <a:ext cx="1463040" cy="1371600"/>
          </a:xfrm>
          <a:prstGeom prst="line">
            <a:avLst/>
          </a:prstGeom>
          <a:noFill/>
          <a:ln w="31750">
            <a:solidFill>
              <a:srgbClr val="5C6B6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3657600"/>
            <a:ext cx="0" cy="-411480"/>
          </a:xfrm>
          <a:prstGeom prst="line">
            <a:avLst/>
          </a:prstGeom>
          <a:noFill/>
          <a:ln w="31750">
            <a:solidFill>
              <a:srgbClr val="5C6B6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726680" y="2331720"/>
            <a:ext cx="1371600" cy="731520"/>
          </a:xfrm>
          <a:prstGeom prst="line">
            <a:avLst/>
          </a:prstGeom>
          <a:noFill/>
          <a:ln w="31750">
            <a:solidFill>
              <a:srgbClr val="5C6B63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predictor sees each reference and issues prefetches; the frame cache counts what was useful.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Markov predictor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State = last k symbols (k = 1, 2, 3)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Table maps each state to 4 successor counters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Prefetch the top successors whose share of the counts is above a confidence threshold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Table: 2^16 entries, direct-mapped and tagged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Page 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Delta state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page − previous page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Table size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about one entry per page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tiny: one per delta pattern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Good 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jumps (loops, pointer chasing)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regular strides (scans, arrays)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4937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 of thumb: the right state matters as much as the algorithm.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Adaptive throttle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Every 2,048 references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Accuracy below 0.3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Raise the confidence threshold (prefetch less)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Accuracy above 0.6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Lower the threshold (prefetch more)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Fewer than 32 outcomes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Relax one level to probe again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Threshold levels: 0.1, 0.4, 0.7, 0.95. Hand-chosen, not tuned on held-out workloads.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Workloads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Trace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What it 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seq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cyclic scan of 30,000 pages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stride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stride-7 scan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loop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600-page loop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ptrchase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fixed random cycle, 5,000 pages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matmul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naive i-j-k, 1024×1024 doubles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noisy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ptrchase with 10% random pages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zipf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independent Zipf references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phases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four behaviours in sequence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real_matmul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384×384 matrix multiply (valgrind)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real_bfs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BFS on a 100k-node random graph (valgrind)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1: access structure decides</a:t>
            </a:r>
            <a:endParaRPr lang="en-US" sz="3400" dirty="0"/>
          </a:p>
        </p:txBody>
      </p:sp>
      <p:pic>
        <p:nvPicPr>
          <p:cNvPr id="4" name="Image 0" descr="Fault rate by poli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10515600" cy="463417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Structured streams are almost fully fixed. On zipf, next-page raises faults from 0.542 to 0.615.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2: state and order matter</a:t>
            </a:r>
            <a:endParaRPr lang="en-US" sz="3400" dirty="0"/>
          </a:p>
        </p:txBody>
      </p:sp>
      <p:pic>
        <p:nvPicPr>
          <p:cNvPr id="4" name="Image 0" descr="Fault rate by predictor state and 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13217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98080" y="16459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matmul: page order 1 = 0.499, order 2 = 0.016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seq: page state 0.458 vs delta state 0.000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noisy: fault rate rises with order for delta states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3: table size</a:t>
            </a:r>
            <a:endParaRPr lang="en-US" sz="3400" dirty="0"/>
          </a:p>
        </p:txBody>
      </p:sp>
      <p:pic>
        <p:nvPicPr>
          <p:cNvPr id="4" name="Image 0" descr="Fault rate versus table s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515600" cy="371977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seq (30,000 pages), page state: 0.458 at 2^16 entries, 0.241 at 2^18. Delta state stays at 0.000 even at 2^8.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4: the throttle removes waste</a:t>
            </a:r>
            <a:endParaRPr lang="en-US" sz="3400" dirty="0"/>
          </a:p>
        </p:txBody>
      </p:sp>
      <p:pic>
        <p:nvPicPr>
          <p:cNvPr id="4" name="Image 0" descr="Wasted prefetches aggressive versus adap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515600" cy="371429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Wasted prefetches per reference: zipf 0.314 → 0.032, noisy 0.852 → 0.147, with essentially unchanged fault rates.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 5: entropy predicts benefit</a:t>
            </a:r>
            <a:endParaRPr lang="en-US" sz="3400" dirty="0"/>
          </a:p>
        </p:txBody>
      </p:sp>
      <p:pic>
        <p:nvPicPr>
          <p:cNvPr id="4" name="Image 0" descr="Entropy versus fault redu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4255618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6766560" y="1463040"/>
            <a:ext cx="48463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766560" y="1554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-0.89</a:t>
            </a:r>
            <a:endParaRPr lang="en-US" sz="50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2560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Spearman, entropy vs fault reduction, 20 traces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35661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Low entropy: almost fully fixed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Mid entropy (noisy, phases): partly fixed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High entropy (zipf, real_bfs): not fixed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Caveat: partly circular, effective n = 10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Real traces: the honest result</a:t>
            </a:r>
            <a:endParaRPr lang="en-US" sz="3400" dirty="0"/>
          </a:p>
        </p:txBody>
      </p:sp>
      <p:sp>
        <p:nvSpPr>
          <p:cNvPr id="4" name="real_matmul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real_matmul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384×384 matrix multiply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prefetch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0.376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64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next-page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3218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0.003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31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Markov (delta, k=1)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0.042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Next-page captures the regularity and needs no table.</a:t>
            </a:r>
            <a:endParaRPr lang="en-US" sz="1600" dirty="0"/>
          </a:p>
        </p:txBody>
      </p:sp>
      <p:sp>
        <p:nvSpPr>
          <p:cNvPr id="14" name="real_bfs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real_bfs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BFS, 100k-node random graph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prefetch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0.222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264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next-page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32186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0.227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831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Markov (delta, k=2)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0.236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398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Markov + throttle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43525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0.225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Pointer chasing: nothing helps. The throttle limits the damage.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Fault rate = faults per reference. 256 frames, 2^16-entry Markov table, LRU.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Simulator, not a system: no timing model, no I/O bandwidth, no multiprocess interference. Prefetches are free.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All eight synthetic workloads are my own constructions; the real evidence is two programs, 200,000 references each, with rank-compressed page ids.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Entropy and benefit are not independent measurements, so the correlation is partly expected. Effective sample: ten distinct workloads.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throttle’s levels and cut-offs are hand-chosen, not tuned on held-out workloads.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Direct-mapped table, four successors per entry, no aging of old counts (may hurt on phase changes).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Takeaways</a:t>
            </a:r>
            <a:endParaRPr lang="en-US" sz="3400" dirty="0"/>
          </a:p>
        </p:txBody>
      </p:sp>
      <p:sp>
        <p:nvSpPr>
          <p:cNvPr id="3" name="Takeaway 1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entropy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Worth 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Markov prefetching pays off when the reference stream is predictable.</a:t>
            </a:r>
            <a:endParaRPr lang="en-US" sz="1600" dirty="0"/>
          </a:p>
        </p:txBody>
      </p:sp>
      <p:sp>
        <p:nvSpPr>
          <p:cNvPr id="7" name="Takeaway 2"/>
          <p:cNvSpPr/>
          <p:nvPr/>
        </p:nvSpPr>
        <p:spPr>
          <a:xfrm>
            <a:off x="429768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+ order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Match the pattern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Delta state for strides, page state for jumps, higher order for interleaved streams.</a:t>
            </a:r>
            <a:endParaRPr lang="en-US" sz="1600" dirty="0"/>
          </a:p>
        </p:txBody>
      </p:sp>
      <p:sp>
        <p:nvSpPr>
          <p:cNvPr id="11" name="Takeaway 3"/>
          <p:cNvSpPr/>
          <p:nvPr/>
        </p:nvSpPr>
        <p:spPr>
          <a:xfrm>
            <a:off x="804672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Throttle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Safe default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 high-entropy traces prefetching only wastes I/O, so cap it by accuracy.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Repo: github.com/kirb-ash/markov-chains   ·   make all reproduces every figure and table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ov Prefetch">
  <a:themeElements>
    <a:clrScheme name="Markov Prefetch">
      <a:dk1>
        <a:srgbClr val="1B2B24"/>
      </a:dk1>
      <a:lt1>
        <a:srgbClr val="FFFFFF"/>
      </a:lt1>
      <a:dk2>
        <a:srgbClr val="12372A"/>
      </a:dk2>
      <a:lt2>
        <a:srgbClr val="EAF3EE"/>
      </a:lt2>
      <a:accent1>
        <a:srgbClr val="1F6F5C"/>
      </a:accent1>
      <a:accent2>
        <a:srgbClr val="E07A2F"/>
      </a:accent2>
      <a:accent3>
        <a:srgbClr val="2F7D32"/>
      </a:accent3>
      <a:accent4>
        <a:srgbClr val="8FD3B0"/>
      </a:accent4>
      <a:accent5>
        <a:srgbClr val="5C6B63"/>
      </a:accent5>
      <a:accent6>
        <a:srgbClr val="C9A227"/>
      </a:accent6>
      <a:hlink>
        <a:srgbClr val="1F6F5C"/>
      </a:hlink>
      <a:folHlink>
        <a:srgbClr val="5C6B63"/>
      </a:folHlink>
    </a:clrScheme>
    <a:fontScheme name="Markov Prefe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Does Markov Prefetching Pay Off?</dc:title>
  <dc:subject>PptxGenJS Presentation</dc:subject>
  <dc:creator>Pala Gaurav Reddy</dc:creator>
  <cp:lastModifiedBy>Pala Gaurav Reddy</cp:lastModifiedBy>
  <cp:revision>1</cp:revision>
  <dcterms:created xsi:type="dcterms:W3CDTF">2026-10-19T17:00:03Z</dcterms:created>
  <dcterms:modified xsi:type="dcterms:W3CDTF">2026-10-19T17:00:03Z</dcterms:modified>
</cp:coreProperties>
</file>